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(Presenter A). 5-minute cut. Hook: to get the car over the hill it must build speed — but what if speed is exactly what we must limit? Can the agent reach the goal while keeping speed under control?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A. Constrained RL: reward for the flag plus a proportional speed cost; budget 15; three agents on one shared shaped environment so the comparison is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B. Cheap feasibility probe. Reckless ~29 (double budget); most cautious winner bottoms out ~11. Safe-and-successful exists, but the window is narrow.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B. Dual critic: reward + cost. Lambda = adaptive safety weight via dual ascent; turns up under violation, relaxes when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B (the math beat). PPO maximizes the clipped reward surrogate. Safe PPO keeps that exact term and SUBTRACTS lambda times the cost advantage (plus a small entropy bonus). That single red term is the whole difference — and lambda isn't fixed: it climbs by dual ascent when cost is over budget and relaxes when we're safe. Everything else is identical to PPO.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C. Stage 1 ignores safety: 6 settings x 3 seeds. Two never learn, one unstable, three solve at return ~47.5. We also passively log each one's speed cost — the hidden tiebreaker.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C. The three solving bases tie on reward but split ~2x on cost. Ranking by reward alone treats them as equal. Hold onto this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C sets up; Presenter A delivers the punchline. All P4-based configs stranded past the budget; low-cost bases reach the feasible region. The cheap passive-cost number was the difference between success and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A. Winner reaches full reward as fast as the unconstrained baseline; cost settles on the budget. Lambda spikes as the car first speeds, then relaxes — the method explaining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B. First pass was deliberately disciplined. Extensions: 5-seed confirm; widen grid; budget sweep -&gt; Pareto (highest value); full ablation; fix cost metric. All run via the same scripts.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(all three). C: MountainCar makes constraint dynamics visible. B: lambda is a readable safety dial. A: choose the base by cost, not just reward. Thanks for watching.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2743200"/>
            <a:ext cx="3291840" cy="3291840"/>
          </a:xfrm>
          <a:prstGeom prst="ellipse">
            <a:avLst/>
          </a:prstGeom>
          <a:solidFill>
            <a:srgbClr val="0F8B8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18120" y="3520440"/>
            <a:ext cx="1737360" cy="1737360"/>
          </a:xfrm>
          <a:prstGeom prst="ellipse">
            <a:avLst/>
          </a:prstGeom>
          <a:solidFill>
            <a:srgbClr val="0E2233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18120" y="36118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VIDEO  ·  5-MINUTE CUT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PPO on MountainCar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the goal without speeding — a PPO-Lagrangian study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6210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Hadis Amin  </a:t>
            </a:r>
            <a:pPr indent="0" marL="0">
              <a:buNone/>
            </a:pPr>
            <a:r>
              <a:rPr lang="en-US" sz="1250" dirty="0">
                <a:solidFill>
                  <a:srgbClr val="9F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u8050066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794760" y="36210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Rafif  </a:t>
            </a:r>
            <a:pPr indent="0" marL="0">
              <a:buNone/>
            </a:pPr>
            <a:r>
              <a:rPr lang="en-US" sz="1250" dirty="0">
                <a:solidFill>
                  <a:srgbClr val="9F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u7964962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0050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Edwar Budiman  </a:t>
            </a:r>
            <a:pPr indent="0" marL="0">
              <a:buNone/>
            </a:pPr>
            <a:r>
              <a:rPr lang="en-US" sz="1250" dirty="0">
                <a:solidFill>
                  <a:srgbClr val="9F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uXXXXXX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94760" y="40050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Mukhit Onalbekov  </a:t>
            </a:r>
            <a:pPr indent="0" marL="0">
              <a:buNone/>
            </a:pPr>
            <a:r>
              <a:rPr lang="en-US" sz="1250" dirty="0">
                <a:solidFill>
                  <a:srgbClr val="9F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uXXXXXX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6817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prepared with the assistance of AI.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is the solution — and the thing we must limit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MountainCar only succeeds by building momentum. We add a gentle,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cost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going too fast, and ask the agent to reach the flag while staying under a budget.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743200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9077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rule   </a:t>
            </a:r>
            <a:pPr indent="0" marL="0">
              <a:buNone/>
            </a:pPr>
            <a:r>
              <a:rPr lang="en-US" sz="13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(|speed| − 0.04) × 100,  only when speed &gt; 0.04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97764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6A7A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977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57400" y="397764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3977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11880" y="397764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3977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PPO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0" y="1417320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15000" y="1417320"/>
            <a:ext cx="64008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5879592" y="14904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= 15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879592" y="19476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cost budget per episode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15000" y="2514600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15000" y="2514600"/>
            <a:ext cx="64008" cy="914400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19" name="Text 17"/>
          <p:cNvSpPr/>
          <p:nvPr/>
        </p:nvSpPr>
        <p:spPr>
          <a:xfrm>
            <a:off x="5879592" y="25877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env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879592" y="30449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shaping for all three agents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715000" y="3611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any difference is the safety mechanism — not luck.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 safe solution even possible?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training anything, we measured hand-coded drivers that pump but refuse to exceed a chosen speed cap.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468880"/>
            <a:ext cx="64008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25420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29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67512" y="29992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reckless driver: nearly 2× the budget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52044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3520440"/>
            <a:ext cx="64008" cy="9144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35935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11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7512" y="405079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cautious floor: lowest cost that still wins</a:t>
            </a:r>
            <a:endParaRPr lang="en-US" sz="1150" dirty="0"/>
          </a:p>
        </p:txBody>
      </p:sp>
      <p:pic>
        <p:nvPicPr>
          <p:cNvPr id="13" name="Image 0" descr="img/cost_vs_speed_c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26280" y="1417320"/>
            <a:ext cx="4160520" cy="23042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26280" y="38404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— but thin. We should hit the budget, with little slack.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PPO + a cost critic + a self-tuning safety knob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0E223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286000" y="146304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1B2B36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14630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(policy)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0" y="233172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0F8B8D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23317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critic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286000" y="320040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32004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critic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737360" y="1755648"/>
            <a:ext cx="548640" cy="0"/>
          </a:xfrm>
          <a:prstGeom prst="line">
            <a:avLst/>
          </a:prstGeom>
          <a:noFill/>
          <a:ln w="19050">
            <a:solidFill>
              <a:srgbClr val="6A7A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2624328"/>
            <a:ext cx="548640" cy="0"/>
          </a:xfrm>
          <a:prstGeom prst="line">
            <a:avLst/>
          </a:prstGeom>
          <a:noFill/>
          <a:ln w="19050">
            <a:solidFill>
              <a:srgbClr val="6A7A8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37360" y="3493008"/>
            <a:ext cx="548640" cy="0"/>
          </a:xfrm>
          <a:prstGeom prst="line">
            <a:avLst/>
          </a:prstGeom>
          <a:noFill/>
          <a:ln w="19050">
            <a:solidFill>
              <a:srgbClr val="6A7A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5544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critic predicts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alongside the usual reward critic.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24231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number,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is a volume knob for safety: it turns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over budget,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safe.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36118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sets λ by hand — it self-tunes every update.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· THE MATH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PPO vs. Safe PPO: one extra term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 —  maximize the clipped reward surrogate</a:t>
            </a:r>
            <a:endParaRPr lang="en-US" sz="1300" dirty="0"/>
          </a:p>
        </p:txBody>
      </p:sp>
      <p:pic>
        <p:nvPicPr>
          <p:cNvPr id="5" name="Image 0" descr="img/eq_pp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27632"/>
            <a:ext cx="4937760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240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PPO  —  same reward surrogate, minus weighted cost, plus entropy</a:t>
            </a:r>
            <a:endParaRPr lang="en-US" sz="1300" dirty="0"/>
          </a:p>
        </p:txBody>
      </p:sp>
      <p:pic>
        <p:nvPicPr>
          <p:cNvPr id="7" name="Image 1" descr="img/eq_saf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2560320"/>
            <a:ext cx="6949440" cy="38404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3310128"/>
            <a:ext cx="8183880" cy="1371600"/>
          </a:xfrm>
          <a:prstGeom prst="rect">
            <a:avLst/>
          </a:prstGeom>
          <a:solidFill>
            <a:srgbClr val="F1F5F7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02920" y="3310128"/>
            <a:ext cx="73152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6"/>
          <p:cNvSpPr/>
          <p:nvPr/>
        </p:nvSpPr>
        <p:spPr>
          <a:xfrm>
            <a:off x="713232" y="34198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 changes</a:t>
            </a:r>
            <a:endParaRPr lang="en-US" sz="1350" dirty="0"/>
          </a:p>
        </p:txBody>
      </p:sp>
      <p:pic>
        <p:nvPicPr>
          <p:cNvPr id="11" name="Image 2" descr="img/eq_diff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" y="3767328"/>
            <a:ext cx="1417320" cy="4023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31720" y="3767328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term added to PPO — penalize the cost advantage, weighted by λ</a:t>
            </a:r>
            <a:endParaRPr lang="en-US" sz="1300" dirty="0"/>
          </a:p>
        </p:txBody>
      </p:sp>
      <p:pic>
        <p:nvPicPr>
          <p:cNvPr id="13" name="Image 3" descr="img/eq_lambd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1520" y="4279392"/>
            <a:ext cx="228600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154680" y="4261104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self-tunes by dual ascent — up when over budget, down when safe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· STAGE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the base policy (safety off)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3931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960120"/>
                <a:gridCol w="9601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−149.7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−145.8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−29.2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A7A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img/fig4_stage1_sel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371600"/>
            <a:ext cx="3977640" cy="2606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configs solve with identical reward — but very different cost.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SIGNAL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reward. Double the cost.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886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P4 — speed demon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 it to the flag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</a:t>
            </a:r>
            <a:pPr indent="0" marL="0">
              <a:buNone/>
            </a:pPr>
            <a:r>
              <a:rPr lang="en-US" sz="14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47.5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</a:t>
            </a:r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28.9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886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P5 / P6 — cruisers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8348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goal gently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</a:t>
            </a:r>
            <a:pPr indent="0" marL="0">
              <a:buNone/>
            </a:pPr>
            <a:r>
              <a:rPr lang="en-US" sz="14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47.5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3108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</a:t>
            </a:r>
            <a:pPr indent="0" marL="0">
              <a:buNone/>
            </a:pPr>
            <a:r>
              <a:rPr lang="en-US" sz="2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9776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can't tell them apart. Cost can — and it's about to decide everything.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· STAGE 2  ·  THE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base decides whether safety is achievable</a:t>
            </a:r>
            <a:endParaRPr lang="en-US" sz="2700" dirty="0"/>
          </a:p>
        </p:txBody>
      </p:sp>
      <p:pic>
        <p:nvPicPr>
          <p:cNvPr id="4" name="Image 0" descr="img/fig5_stage2_scat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0" y="1325880"/>
            <a:ext cx="4389120" cy="2880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630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BEAE8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627632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P4-based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config fails the budget — no matter how we tune λ.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02920" y="3108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 is set by the base's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not its reward.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397764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by reward alone would have chosen the one base that can never be made safe.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winner (S6): safe, essentially for free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25880"/>
            <a:ext cx="64008" cy="9144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990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47.3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7512" y="18562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— matches the baseline (47.8)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325880"/>
            <a:ext cx="64008" cy="914400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3990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56432" y="18562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— exactly on the budget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606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4"/>
            </a:solidFill>
            <a:prstDash val="solid"/>
          </a:ln>
          <a:effectLst>
            <a:outerShdw sx="100000" sy="100000" kx="0" ky="0" algn="bl" rotWithShape="0" blurRad="114300" dist="38100" dir="8100000">
              <a:srgbClr val="9AA7AE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325880"/>
            <a:ext cx="64008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245352" y="13990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 → 0.09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45352" y="18562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peaks, then relaxes</a:t>
            </a:r>
            <a:endParaRPr lang="en-US" sz="1150" dirty="0"/>
          </a:p>
        </p:txBody>
      </p:sp>
      <p:pic>
        <p:nvPicPr>
          <p:cNvPr id="16" name="Image 0" descr="img/fig2_safe_du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2468880"/>
            <a:ext cx="4069080" cy="2240280"/>
          </a:xfrm>
          <a:prstGeom prst="rect">
            <a:avLst/>
          </a:prstGeom>
        </p:spPr>
      </p:pic>
      <p:pic>
        <p:nvPicPr>
          <p:cNvPr id="17" name="Image 1" descr="img/fig3_lambda_co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2697480"/>
            <a:ext cx="3931920" cy="18562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FINAL REPORT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hyperparameter study goes next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on 5 seeds</a:t>
            </a:r>
            <a:pPr indent="0" marL="0">
              <a:buNone/>
            </a:pPr>
            <a:r>
              <a:rPr lang="en-US" sz="12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re-run finalists; a champion from 3 runs can be luck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075688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 the safety grid</a:t>
            </a:r>
            <a:pPr indent="0" marL="0">
              <a:buNone/>
            </a:pPr>
            <a:r>
              <a:rPr lang="en-US" sz="12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open up the λ step sizes; check for a better point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420624" cy="42062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734056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the budget → Pareto front</a:t>
            </a:r>
            <a:pPr indent="0" marL="0">
              <a:buNone/>
            </a:pPr>
            <a:r>
              <a:rPr lang="en-US" sz="12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d ∈ {12,15,20,25}: a safety-vs-reward trade-off curve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419856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19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392424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base × safety ablation</a:t>
            </a:r>
            <a:pPr indent="0" marL="0">
              <a:buNone/>
            </a:pPr>
            <a:r>
              <a:rPr lang="en-US" sz="12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all 6 bases, not 3 — nails the base-cost claim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078224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78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050792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the cost metric</a:t>
            </a:r>
            <a:pPr indent="0" marL="0">
              <a:buNone/>
            </a:pPr>
            <a:r>
              <a:rPr lang="en-US" sz="1250" dirty="0">
                <a:solidFill>
                  <a:srgbClr val="6A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use one definition for λ-update and reporting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4300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slots straight into the existing two-stage runner.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to remember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38528"/>
            <a:ext cx="82296" cy="658368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it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834640" y="19202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MountainCar is simple enough to watch a constraint reshape learning.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07208"/>
            <a:ext cx="82296" cy="65836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88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834640" y="27889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is an automatic, interpretable safety dial.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75888"/>
            <a:ext cx="82296" cy="658368"/>
          </a:xfrm>
          <a:prstGeom prst="rect">
            <a:avLst/>
          </a:prstGeom>
          <a:solidFill>
            <a:srgbClr val="E0A43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657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by cost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34640" y="36576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satisfy a constraint, pick your base policy by its cost — not just its reward.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D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paper, and training-process videos available in the project repository.   ·   Slides prepared with the assistance of AI.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PPO on MountainCar</dc:title>
  <dc:subject>PptxGenJS Presentation</dc:subject>
  <dc:creator>Team — Hadis Amin, Muhammad Rafif, Edwar Budiman, Mukhit Onalbekov</dc:creator>
  <cp:lastModifiedBy>Team — Hadis Amin, Muhammad Rafif, Edwar Budiman, Mukhit Onalbekov</cp:lastModifiedBy>
  <cp:revision>1</cp:revision>
  <dcterms:created xsi:type="dcterms:W3CDTF">2026-06-06T07:01:17Z</dcterms:created>
  <dcterms:modified xsi:type="dcterms:W3CDTF">2026-06-06T07:01:17Z</dcterms:modified>
</cp:coreProperties>
</file>