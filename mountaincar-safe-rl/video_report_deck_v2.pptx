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(Presenter A). 5-minute cut. Hook: to get the car over the hill it must build speed — but what if speed is exactly what we must limit? Energy, wear, safety. Can the agent reach the goal while keeping speed under control?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A. Constrained RL: reward for the flag plus a proportional speed cost; budget 15; three agents on one shared shaped environment so the comparison is clean.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B. Cheap feasibility probe. Reckless ~29 (double budget); most cautious winner bottoms out ~11. Safe-and-successful exists, but the window is narrow.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B. Dual critic: reward + cost. Lambda = adaptive safety weight via dual ascent; turns up under violation, relaxes when safe. Self-tuning is the heart of the method.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C. Stage 1 ignores safety: 6 settings x 3 seeds. Two never learn, one unstable, three solve at return ~47.5. We also passively log each one's speed cost — the hidden tiebreaker.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C. The three solving bases tie on reward but split ~2x on cost. Ranking by reward alone treats them as equal. Hold onto this gap.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C sets up; Presenter A delivers the punchline. All P4-based configs stranded past the budget; low-cost bases reach the feasible region. The cheap passive-cost number was the difference between success and failure.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A. Winner reaches full reward as fast as the unconstrained baseline; cost settles on the budget. Lambda spikes as the car first speeds, then relaxes — the method explaining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B. First pass was deliberately disciplined. Extensions: 5-seed confirm; widen grid; budget sweep -&gt; Pareto (highest value); full ablation; fix cost metric. All run via the same scripts.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(all three). C: MountainCar makes constraint dynamics visible. B: lambda is a readable safety dial. A: choose the base by cost, not just reward. Thanks for watching.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40880" y="2743200"/>
            <a:ext cx="3291840" cy="3291840"/>
          </a:xfrm>
          <a:prstGeom prst="ellipse">
            <a:avLst/>
          </a:prstGeom>
          <a:solidFill>
            <a:srgbClr val="0F8B8D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818120" y="3520440"/>
            <a:ext cx="1737360" cy="1737360"/>
          </a:xfrm>
          <a:prstGeom prst="ellipse">
            <a:avLst/>
          </a:prstGeom>
          <a:solidFill>
            <a:srgbClr val="0E2233"/>
          </a:solidFill>
          <a:ln w="19050">
            <a:solidFill>
              <a:srgbClr val="0F8B8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818120" y="3611880"/>
            <a:ext cx="1737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F8B8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λ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VIDEO  ·  5-MINUTE CUT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32588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 PPO on MountainCar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265176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7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Reaching the goal without speeding — a PPO-Lagrangian study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33375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E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3621024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Hadis Amin  </a:t>
            </a:r>
            <a:pPr indent="0" marL="0">
              <a:buNone/>
            </a:pPr>
            <a:r>
              <a:rPr lang="en-US" sz="1250" dirty="0">
                <a:solidFill>
                  <a:srgbClr val="9FB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u8050066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794760" y="3621024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Rafif  </a:t>
            </a:r>
            <a:pPr indent="0" marL="0">
              <a:buNone/>
            </a:pPr>
            <a:r>
              <a:rPr lang="en-US" sz="1250" dirty="0">
                <a:solidFill>
                  <a:srgbClr val="9FB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u7964962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400507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Edwar Budiman  </a:t>
            </a:r>
            <a:pPr indent="0" marL="0">
              <a:buNone/>
            </a:pPr>
            <a:r>
              <a:rPr lang="en-US" sz="1250" dirty="0">
                <a:solidFill>
                  <a:srgbClr val="9FB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uXXXXXX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794760" y="400507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Mukhit Onalbekov  </a:t>
            </a:r>
            <a:pPr indent="0" marL="0">
              <a:buNone/>
            </a:pPr>
            <a:r>
              <a:rPr lang="en-US" sz="1250" dirty="0">
                <a:solidFill>
                  <a:srgbClr val="9FB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uXXXXXX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46817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E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prepared with the assistance of AI.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SETUP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2B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Speed is the solution — and the thing we must limit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MountainCar only succeeds by building momentum. We add a gentle, 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proportional cost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going too fast, and ask the agent to reach the flag while staying under a budget.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2743200"/>
            <a:ext cx="4572000" cy="960120"/>
          </a:xfrm>
          <a:prstGeom prst="roundRect">
            <a:avLst>
              <a:gd name="adj" fmla="val 7619"/>
            </a:avLst>
          </a:prstGeom>
          <a:solidFill>
            <a:srgbClr val="F1F5F7"/>
          </a:solidFill>
          <a:ln w="12700">
            <a:solidFill>
              <a:srgbClr val="D8E0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90779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rule   </a:t>
            </a:r>
            <a:pPr indent="0" marL="0">
              <a:buNone/>
            </a:pPr>
            <a:r>
              <a:rPr lang="en-US" sz="13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(|speed| − 0.04) × 100,  only when speed &gt; 0.04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397764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6A7A8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39776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057400" y="397764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0F8B8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57400" y="39776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11880" y="397764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11880" y="39776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PPO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715000" y="1417320"/>
            <a:ext cx="2926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4"/>
            </a:solidFill>
            <a:prstDash val="solid"/>
          </a:ln>
          <a:effectLst>
            <a:outerShdw sx="100000" sy="100000" kx="0" ky="0" algn="bl" rotWithShape="0" blurRad="114300" dist="38100" dir="8100000">
              <a:srgbClr val="9AA7AE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715000" y="1417320"/>
            <a:ext cx="64008" cy="9144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5" name="Text 13"/>
          <p:cNvSpPr/>
          <p:nvPr/>
        </p:nvSpPr>
        <p:spPr>
          <a:xfrm>
            <a:off x="5879592" y="149047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 = 15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879592" y="194767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A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total cost budget per episode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715000" y="2514600"/>
            <a:ext cx="2926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4"/>
            </a:solidFill>
            <a:prstDash val="solid"/>
          </a:ln>
          <a:effectLst>
            <a:outerShdw sx="100000" sy="100000" kx="0" ky="0" algn="bl" rotWithShape="0" blurRad="114300" dist="38100" dir="8100000">
              <a:srgbClr val="9AA7AE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715000" y="2514600"/>
            <a:ext cx="64008" cy="914400"/>
          </a:xfrm>
          <a:prstGeom prst="rect">
            <a:avLst/>
          </a:prstGeom>
          <a:solidFill>
            <a:srgbClr val="0F8B8D"/>
          </a:solidFill>
          <a:ln/>
        </p:spPr>
      </p:sp>
      <p:sp>
        <p:nvSpPr>
          <p:cNvPr id="19" name="Text 17"/>
          <p:cNvSpPr/>
          <p:nvPr/>
        </p:nvSpPr>
        <p:spPr>
          <a:xfrm>
            <a:off x="5879592" y="258775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8B8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shared env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5879592" y="304495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A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shaping for all three agents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715000" y="36118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A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any difference is the safety mechanism — not luck.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SANITY CHECK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2B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a safe solution even possible?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training anything, we measured hand-coded drivers that pump but refuse to exceed a chosen speed cap.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2468880"/>
            <a:ext cx="37490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4"/>
            </a:solidFill>
            <a:prstDash val="solid"/>
          </a:ln>
          <a:effectLst>
            <a:outerShdw sx="100000" sy="100000" kx="0" ky="0" algn="bl" rotWithShape="0" blurRad="114300" dist="38100" dir="8100000">
              <a:srgbClr val="9AA7A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2468880"/>
            <a:ext cx="64008" cy="9144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" y="254203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 29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67512" y="299923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A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reckless driver: nearly 2× the budget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3520440"/>
            <a:ext cx="37490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4"/>
            </a:solidFill>
            <a:prstDash val="solid"/>
          </a:ln>
          <a:effectLst>
            <a:outerShdw sx="100000" sy="100000" kx="0" ky="0" algn="bl" rotWithShape="0" blurRad="114300" dist="38100" dir="8100000">
              <a:srgbClr val="9AA7AE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3520440"/>
            <a:ext cx="64008" cy="91440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" y="359359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8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 11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67512" y="405079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A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cautious floor: lowest cost that still wins</a:t>
            </a:r>
            <a:endParaRPr lang="en-US" sz="1150" dirty="0"/>
          </a:p>
        </p:txBody>
      </p:sp>
      <p:pic>
        <p:nvPicPr>
          <p:cNvPr id="13" name="Image 0" descr="img/cost_vs_speed_ca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26280" y="1417320"/>
            <a:ext cx="4160520" cy="230428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526280" y="384048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A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Feasible — but thin. We should hit the budget, with little slack.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2B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PPO + a cost critic + a self-tuning safety knob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1097280" cy="594360"/>
          </a:xfrm>
          <a:prstGeom prst="roundRect">
            <a:avLst>
              <a:gd name="adj" fmla="val 12308"/>
            </a:avLst>
          </a:prstGeom>
          <a:solidFill>
            <a:srgbClr val="0E223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33172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286000" y="1463040"/>
            <a:ext cx="178308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9050">
            <a:solidFill>
              <a:srgbClr val="1B2B36"/>
            </a:solidFill>
            <a:prstDash val="solid"/>
          </a:ln>
          <a:effectLst>
            <a:outerShdw sx="100000" sy="100000" kx="0" ky="0" algn="bl" rotWithShape="0" blurRad="114300" dist="38100" dir="8100000">
              <a:srgbClr val="9AA7AE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86000" y="146304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 (policy)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286000" y="2331720"/>
            <a:ext cx="178308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9050">
            <a:solidFill>
              <a:srgbClr val="0F8B8D"/>
            </a:solidFill>
            <a:prstDash val="solid"/>
          </a:ln>
          <a:effectLst>
            <a:outerShdw sx="100000" sy="100000" kx="0" ky="0" algn="bl" rotWithShape="0" blurRad="114300" dist="38100" dir="8100000">
              <a:srgbClr val="9AA7AE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286000" y="233172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critic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286000" y="3200400"/>
            <a:ext cx="178308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  <a:effectLst>
            <a:outerShdw sx="100000" sy="100000" kx="0" ky="0" algn="bl" rotWithShape="0" blurRad="114300" dist="38100" dir="8100000">
              <a:srgbClr val="9AA7AE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286000" y="320040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critic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1737360" y="1755648"/>
            <a:ext cx="548640" cy="0"/>
          </a:xfrm>
          <a:prstGeom prst="line">
            <a:avLst/>
          </a:prstGeom>
          <a:noFill/>
          <a:ln w="19050">
            <a:solidFill>
              <a:srgbClr val="6A7A8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37360" y="2624328"/>
            <a:ext cx="548640" cy="0"/>
          </a:xfrm>
          <a:prstGeom prst="line">
            <a:avLst/>
          </a:prstGeom>
          <a:noFill/>
          <a:ln w="19050">
            <a:solidFill>
              <a:srgbClr val="6A7A8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737360" y="3493008"/>
            <a:ext cx="548640" cy="0"/>
          </a:xfrm>
          <a:prstGeom prst="line">
            <a:avLst/>
          </a:prstGeom>
          <a:noFill/>
          <a:ln w="19050">
            <a:solidFill>
              <a:srgbClr val="6A7A8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155448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critic predicts </a:t>
            </a:r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alongside the usual reward critic.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663440" y="242316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number, </a:t>
            </a:r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is a volume knob for safety: it turns </a:t>
            </a:r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when over budget, </a:t>
            </a:r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when safe.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663440" y="361188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sets λ by hand — it self-tunes every update.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· STAGE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2B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Screen the base policy (safety off)</a:t>
            </a:r>
            <a:endParaRPr lang="en-US" sz="27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39319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097280"/>
                <a:gridCol w="960120"/>
                <a:gridCol w="96012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Solved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3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−149.7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−145.8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−29.2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A7A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P5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P6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5" name="Image 0" descr="img/fig4_stage1_selec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09160" y="1371600"/>
            <a:ext cx="3977640" cy="26060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0292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A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configs solve with identical reward — but very different cost.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HIDDEN SIGNAL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2B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reward. Double the cost.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38862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  <a:effectLst>
            <a:outerShdw sx="100000" sy="100000" kx="0" ky="0" algn="bl" rotWithShape="0" blurRad="114300" dist="38100" dir="8100000">
              <a:srgbClr val="9AA7AE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7830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P4 — speed demon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floors it to the flag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A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</a:t>
            </a:r>
            <a:pPr indent="0" marL="0">
              <a:buNone/>
            </a:pPr>
            <a:r>
              <a:rPr lang="en-US" sz="1400" b="1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47.5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1089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A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</a:t>
            </a:r>
            <a:pPr indent="0" marL="0">
              <a:buNone/>
            </a:pPr>
            <a:r>
              <a:rPr lang="en-US" sz="2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28.9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1554480"/>
            <a:ext cx="38862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  <a:effectLst>
            <a:outerShdw sx="100000" sy="100000" kx="0" ky="0" algn="bl" rotWithShape="0" blurRad="114300" dist="38100" dir="8100000">
              <a:srgbClr val="9AA7AE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83480" y="17830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8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P5 / P6 — cruisers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983480" y="21945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the goal gently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83480" y="27432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A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</a:t>
            </a:r>
            <a:pPr indent="0" marL="0">
              <a:buNone/>
            </a:pPr>
            <a:r>
              <a:rPr lang="en-US" sz="1400" b="1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47.5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83480" y="31089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A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</a:t>
            </a:r>
            <a:pPr indent="0" marL="0">
              <a:buNone/>
            </a:pPr>
            <a:r>
              <a:rPr lang="en-US" sz="20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15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" y="397764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can't tell them apart. Cost can — and it's about to decide everything.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· STAGE 2  ·  THE FINDING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2B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base decides whether safety is achievable</a:t>
            </a:r>
            <a:endParaRPr lang="en-US" sz="2700" dirty="0"/>
          </a:p>
        </p:txBody>
      </p:sp>
      <p:pic>
        <p:nvPicPr>
          <p:cNvPr id="4" name="Image 0" descr="img/fig5_stage2_scatt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297680" y="1325880"/>
            <a:ext cx="4389120" cy="2880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46304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BEAE8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85800" y="1627632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</a:t>
            </a:r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P4-based</a:t>
            </a:r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config fails the budget — no matter how we tune λ.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02920" y="310896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B2B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Feasibility is set by the base's </a:t>
            </a:r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</a:t>
            </a:r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B2B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not its reward.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02920" y="3977640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A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Picking by reward alone would have chosen the one base that can never be made safe.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2B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winner (S6): safe, essentially for free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4"/>
            </a:solidFill>
            <a:prstDash val="solid"/>
          </a:ln>
          <a:effectLst>
            <a:outerShdw sx="100000" sy="100000" kx="0" ky="0" algn="bl" rotWithShape="0" blurRad="114300" dist="38100" dir="8100000">
              <a:srgbClr val="9AA7AE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325880"/>
            <a:ext cx="64008" cy="91440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6" name="Text 4"/>
          <p:cNvSpPr/>
          <p:nvPr/>
        </p:nvSpPr>
        <p:spPr>
          <a:xfrm>
            <a:off x="667512" y="139903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8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47.3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67512" y="185623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A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— matches the baseline (47.8)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91840" y="1325880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4"/>
            </a:solidFill>
            <a:prstDash val="solid"/>
          </a:ln>
          <a:effectLst>
            <a:outerShdw sx="100000" sy="100000" kx="0" ky="0" algn="bl" rotWithShape="0" blurRad="114300" dist="38100" dir="8100000">
              <a:srgbClr val="9AA7AE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1325880"/>
            <a:ext cx="64008" cy="914400"/>
          </a:xfrm>
          <a:prstGeom prst="rect">
            <a:avLst/>
          </a:prstGeom>
          <a:solidFill>
            <a:srgbClr val="0F8B8D"/>
          </a:solidFill>
          <a:ln/>
        </p:spPr>
      </p:sp>
      <p:sp>
        <p:nvSpPr>
          <p:cNvPr id="10" name="Text 8"/>
          <p:cNvSpPr/>
          <p:nvPr/>
        </p:nvSpPr>
        <p:spPr>
          <a:xfrm>
            <a:off x="3456432" y="139903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8B8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15.0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456432" y="185623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A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— exactly on the budget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080760" y="1325880"/>
            <a:ext cx="26060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4"/>
            </a:solidFill>
            <a:prstDash val="solid"/>
          </a:ln>
          <a:effectLst>
            <a:outerShdw sx="100000" sy="100000" kx="0" ky="0" algn="bl" rotWithShape="0" blurRad="114300" dist="38100" dir="8100000">
              <a:srgbClr val="9AA7AE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80760" y="1325880"/>
            <a:ext cx="64008" cy="9144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4" name="Text 12"/>
          <p:cNvSpPr/>
          <p:nvPr/>
        </p:nvSpPr>
        <p:spPr>
          <a:xfrm>
            <a:off x="6245352" y="139903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0.95 → 0.09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245352" y="1856232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A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peaks, then relaxes</a:t>
            </a:r>
            <a:endParaRPr lang="en-US" sz="1150" dirty="0"/>
          </a:p>
        </p:txBody>
      </p:sp>
      <p:pic>
        <p:nvPicPr>
          <p:cNvPr id="16" name="Image 0" descr="img/fig2_safe_dua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2468880"/>
            <a:ext cx="4069080" cy="2240280"/>
          </a:xfrm>
          <a:prstGeom prst="rect">
            <a:avLst/>
          </a:prstGeom>
        </p:spPr>
      </p:pic>
      <p:pic>
        <p:nvPicPr>
          <p:cNvPr id="17" name="Image 1" descr="img/fig3_lambda_cost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54880" y="2697480"/>
            <a:ext cx="3931920" cy="185623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FINAL REPORT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2B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the hyperparameter study goes next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44752"/>
            <a:ext cx="420624" cy="420624"/>
          </a:xfrm>
          <a:prstGeom prst="ellipse">
            <a:avLst/>
          </a:prstGeom>
          <a:solidFill>
            <a:srgbClr val="0F8B8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447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1417320"/>
            <a:ext cx="7543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on 5 seeds</a:t>
            </a:r>
            <a:pPr indent="0" marL="0">
              <a:buNone/>
            </a:pPr>
            <a:r>
              <a:rPr lang="en-US" sz="1250" dirty="0">
                <a:solidFill>
                  <a:srgbClr val="6A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re-run finalists; a champion from 3 runs can be luck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420624" cy="420624"/>
          </a:xfrm>
          <a:prstGeom prst="ellipse">
            <a:avLst/>
          </a:prstGeom>
          <a:solidFill>
            <a:srgbClr val="0F8B8D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103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" y="2075688"/>
            <a:ext cx="7543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Widen the safety grid</a:t>
            </a:r>
            <a:pPr indent="0" marL="0">
              <a:buNone/>
            </a:pPr>
            <a:r>
              <a:rPr lang="en-US" sz="1250" dirty="0">
                <a:solidFill>
                  <a:srgbClr val="6A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open up the λ step sizes; check for a better point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2761488"/>
            <a:ext cx="420624" cy="42062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7614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43000" y="2734056"/>
            <a:ext cx="7543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Sweep the budget → Pareto front</a:t>
            </a:r>
            <a:pPr indent="0" marL="0">
              <a:buNone/>
            </a:pPr>
            <a:r>
              <a:rPr lang="en-US" sz="1250" dirty="0">
                <a:solidFill>
                  <a:srgbClr val="6A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d ∈ {12,15,20,25}: a safety-vs-reward trade-off curve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3419856"/>
            <a:ext cx="420624" cy="420624"/>
          </a:xfrm>
          <a:prstGeom prst="ellipse">
            <a:avLst/>
          </a:prstGeom>
          <a:solidFill>
            <a:srgbClr val="0F8B8D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4198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43000" y="3392424"/>
            <a:ext cx="7543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base × safety ablation</a:t>
            </a:r>
            <a:pPr indent="0" marL="0">
              <a:buNone/>
            </a:pPr>
            <a:r>
              <a:rPr lang="en-US" sz="1250" dirty="0">
                <a:solidFill>
                  <a:srgbClr val="6A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all 6 bases, not 3 — nails the base-cost claim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4078224"/>
            <a:ext cx="420624" cy="420624"/>
          </a:xfrm>
          <a:prstGeom prst="ellipse">
            <a:avLst/>
          </a:prstGeom>
          <a:solidFill>
            <a:srgbClr val="0F8B8D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0782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43000" y="4050792"/>
            <a:ext cx="7543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 the cost metric</a:t>
            </a:r>
            <a:pPr indent="0" marL="0">
              <a:buNone/>
            </a:pPr>
            <a:r>
              <a:rPr lang="en-US" sz="1250" dirty="0">
                <a:solidFill>
                  <a:srgbClr val="6A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use one definition for λ-update and reporting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143000" y="47548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slots straight into the existing two-stage runner.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things to remember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38528"/>
            <a:ext cx="82296" cy="658368"/>
          </a:xfrm>
          <a:prstGeom prst="rect">
            <a:avLst/>
          </a:prstGeom>
          <a:solidFill>
            <a:srgbClr val="0F8B8D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9202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8B8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 it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2834640" y="192024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7E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MountainCar is simple enough to watch a constraint reshape learning.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807208"/>
            <a:ext cx="82296" cy="658368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7889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8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 it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2834640" y="278892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7E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is an automatic, interpretable safety dial.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675888"/>
            <a:ext cx="82296" cy="658368"/>
          </a:xfrm>
          <a:prstGeom prst="rect">
            <a:avLst/>
          </a:prstGeom>
          <a:solidFill>
            <a:srgbClr val="E0A43A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6576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A4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Choose by cost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834640" y="365760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7E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satisfy a constraint, pick your base policy by its cost — not just its reward.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4617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D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paper, and training-process videos available in the project repository.   ·   Slides prepared with the assistance of AI.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 PPO on MountainCar</dc:title>
  <dc:subject>PptxGenJS Presentation</dc:subject>
  <dc:creator>Team — Hadis Amin, Muhammad Rafif, Edwar Budiman, Mukhit Onalbekov</dc:creator>
  <cp:lastModifiedBy>Team — Hadis Amin, Muhammad Rafif, Edwar Budiman, Mukhit Onalbekov</cp:lastModifiedBy>
  <cp:revision>1</cp:revision>
  <dcterms:created xsi:type="dcterms:W3CDTF">2026-06-06T05:23:38Z</dcterms:created>
  <dcterms:modified xsi:type="dcterms:W3CDTF">2026-06-06T05:23:38Z</dcterms:modified>
</cp:coreProperties>
</file>