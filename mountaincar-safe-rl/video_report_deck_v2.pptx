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44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32963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(Presenter A). 5-minute cut. Hook: to get the car over the hill it must build speed — but what if speed is exactly what we must limit? Energy, wear, safety. Can the agent reach the goal while keeping speed under control?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A. Constrained RL: reward for the flag plus a proportional speed cost; budget 15; three agents on one shared shaped environment so the comparison is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B. Cheap feasibility probe. Reckless ~29 (double budget); most cautious winner bottoms out ~11. Safe-and-successful exists, but the window is narrow.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B. Dual critic: reward + cost. Lambda = adaptive safety weight via dual ascent; turns up under violation, relaxes when safe. Self-tuning is the heart of the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C. Stage 1 ignores safety: 6 settings x 3 seeds. Two never learn, one unstable, three solve at return ~47.5. We also passively log each one's speed cost — the hidden tiebreaker.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C. The three solving bases tie on reward but split ~2x on cost. Ranking by reward alone treats them as equal. Hold onto this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C sets up; Presenter A delivers the punchline. All P4-based configs stranded past the budget; low-cost bases reach the feasible region. The cheap passive-cost number was the difference between success and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A. Winner reaches full reward as fast as the unconstrained baseline; cost settles on the budget. Lambda spikes as the car first speeds, then relaxes — the method explaining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B. First pass was deliberately disciplined. Extensions: 5-seed confirm; widen grid; budget sweep -&gt; Pareto (highest value); full ablation; fix cost metric. All run via the same scripts.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(all three). C: MountainCar makes constraint dynamics visible. B: lambda is a readable safety dial. A: choose the base by cost, not just reward. Thanks for watching.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743200"/>
            <a:ext cx="3291840" cy="3291840"/>
          </a:xfrm>
          <a:prstGeom prst="ellipse">
            <a:avLst/>
          </a:prstGeom>
          <a:solidFill>
            <a:srgbClr val="0F8B8D">
              <a:alpha val="22000"/>
            </a:srgbClr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" name="Shape 1"/>
          <p:cNvSpPr/>
          <p:nvPr/>
        </p:nvSpPr>
        <p:spPr>
          <a:xfrm>
            <a:off x="7818120" y="3520440"/>
            <a:ext cx="1737360" cy="1737360"/>
          </a:xfrm>
          <a:prstGeom prst="ellipse">
            <a:avLst/>
          </a:prstGeom>
          <a:solidFill>
            <a:srgbClr val="0E2233"/>
          </a:solidFill>
          <a:ln w="19050">
            <a:solidFill>
              <a:srgbClr val="0F8B8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4" name="Text 2"/>
          <p:cNvSpPr/>
          <p:nvPr/>
        </p:nvSpPr>
        <p:spPr>
          <a:xfrm>
            <a:off x="7818120" y="36118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F8B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VIDEO  ·  5-MINUTE CUT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PPO on MountainCar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7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the goal without speeding — a PPO-Lagrangian study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337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E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62102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Hadis Amin  </a:t>
            </a:r>
            <a:r>
              <a:rPr lang="en-US" sz="1250" dirty="0">
                <a:solidFill>
                  <a:srgbClr val="9FB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u8050066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794760" y="362102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Rafif  </a:t>
            </a:r>
            <a:r>
              <a:rPr lang="en-US" sz="1250" dirty="0">
                <a:solidFill>
                  <a:srgbClr val="9FB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u7964962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40050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Edwar Budiman  </a:t>
            </a:r>
            <a:r>
              <a:rPr lang="en-US" sz="1250" dirty="0">
                <a:solidFill>
                  <a:srgbClr val="9FB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u7898974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794760" y="40050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Mukhit </a:t>
            </a:r>
            <a:r>
              <a:rPr lang="en-US" sz="12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Onalbekov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50" dirty="0">
                <a:solidFill>
                  <a:srgbClr val="9FB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u7812910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681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E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prepared with the assistance of AI.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is the solution — and the thing we must limit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MountainCar only succeeds by building momentum. We add a gentle, </a:t>
            </a: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 cost</a:t>
            </a:r>
            <a:r>
              <a:rPr lang="en-US" sz="1500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going too fast, and ask the agent to reach the flag while staying under a budget.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4572000" cy="960120"/>
          </a:xfrm>
          <a:prstGeom prst="roundRect">
            <a:avLst>
              <a:gd name="adj" fmla="val 7619"/>
            </a:avLst>
          </a:prstGeom>
          <a:solidFill>
            <a:srgbClr val="F1F5F7"/>
          </a:solidFill>
          <a:ln w="12700">
            <a:solidFill>
              <a:srgbClr val="D8E0E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685800" y="29077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rule   </a:t>
            </a:r>
            <a:r>
              <a:rPr lang="en-US" sz="1300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(|speed| − 0.04) × 100,  only when speed &gt; 0.04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977640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6A7A8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502920" y="39776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057400" y="3977640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F8B8D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2057400" y="39776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11880" y="3977640"/>
            <a:ext cx="1417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ext 10"/>
          <p:cNvSpPr/>
          <p:nvPr/>
        </p:nvSpPr>
        <p:spPr>
          <a:xfrm>
            <a:off x="3611880" y="39776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PPO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715000" y="1417320"/>
            <a:ext cx="2926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4"/>
            </a:solidFill>
            <a:prstDash val="solid"/>
          </a:ln>
          <a:effectLst>
            <a:outerShdw blurRad="114300" dist="38100" dir="8100000" algn="bl" rotWithShape="0">
              <a:srgbClr val="9AA7AE">
                <a:alpha val="2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4" name="Shape 12"/>
          <p:cNvSpPr/>
          <p:nvPr/>
        </p:nvSpPr>
        <p:spPr>
          <a:xfrm>
            <a:off x="5715000" y="1417320"/>
            <a:ext cx="64008" cy="9144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5879592" y="149047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= 15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879592" y="194767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cost budget per episode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715000" y="2514600"/>
            <a:ext cx="2926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4"/>
            </a:solidFill>
            <a:prstDash val="solid"/>
          </a:ln>
          <a:effectLst>
            <a:outerShdw blurRad="114300" dist="38100" dir="8100000" algn="bl" rotWithShape="0">
              <a:srgbClr val="9AA7AE">
                <a:alpha val="2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8" name="Shape 16"/>
          <p:cNvSpPr/>
          <p:nvPr/>
        </p:nvSpPr>
        <p:spPr>
          <a:xfrm>
            <a:off x="5715000" y="2514600"/>
            <a:ext cx="64008" cy="914400"/>
          </a:xfrm>
          <a:prstGeom prst="rect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9" name="Text 17"/>
          <p:cNvSpPr/>
          <p:nvPr/>
        </p:nvSpPr>
        <p:spPr>
          <a:xfrm>
            <a:off x="5879592" y="258775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8B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env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879592" y="304495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shaping for all three agents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5000" y="36118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any difference is the safety mechanism — not luck.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a safe solution even possible?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training anything, we measured hand-coded drivers that pump but refuse to exceed a chosen speed cap.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468880"/>
            <a:ext cx="3749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4"/>
            </a:solidFill>
            <a:prstDash val="solid"/>
          </a:ln>
          <a:effectLst>
            <a:outerShdw blurRad="114300" dist="38100" dir="8100000" algn="bl" rotWithShape="0">
              <a:srgbClr val="9AA7AE">
                <a:alpha val="2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6" name="Shape 4"/>
          <p:cNvSpPr/>
          <p:nvPr/>
        </p:nvSpPr>
        <p:spPr>
          <a:xfrm>
            <a:off x="502920" y="2468880"/>
            <a:ext cx="64008" cy="9144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667512" y="25420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29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67512" y="29992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reckless driver: nearly 2× the budget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520440"/>
            <a:ext cx="3749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4"/>
            </a:solidFill>
            <a:prstDash val="solid"/>
          </a:ln>
          <a:effectLst>
            <a:outerShdw blurRad="114300" dist="38100" dir="8100000" algn="bl" rotWithShape="0">
              <a:srgbClr val="9AA7AE">
                <a:alpha val="2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0" name="Shape 8"/>
          <p:cNvSpPr/>
          <p:nvPr/>
        </p:nvSpPr>
        <p:spPr>
          <a:xfrm>
            <a:off x="502920" y="3520440"/>
            <a:ext cx="64008" cy="914400"/>
          </a:xfrm>
          <a:prstGeom prst="rect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667512" y="35935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11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7512" y="405079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cautious floor: lowest cost that still wins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526280" y="384048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— but thin. We should hit the budget, with little slack.</a:t>
            </a:r>
            <a:endParaRPr lang="en-US" sz="13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6EA0BB3-042B-0765-B8AF-487AAB133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82" y="1475724"/>
            <a:ext cx="4069080" cy="22526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PPO + a cost critic + a self-tuning safety knob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1097280" cy="594360"/>
          </a:xfrm>
          <a:prstGeom prst="roundRect">
            <a:avLst>
              <a:gd name="adj" fmla="val 12308"/>
            </a:avLst>
          </a:prstGeom>
          <a:solidFill>
            <a:srgbClr val="0E2233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286000" y="1463040"/>
            <a:ext cx="17830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1B2B36"/>
            </a:solidFill>
            <a:prstDash val="solid"/>
          </a:ln>
          <a:effectLst>
            <a:outerShdw blurRad="114300" dist="38100" dir="8100000" algn="bl" rotWithShape="0">
              <a:srgbClr val="9AA7AE">
                <a:alpha val="2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/>
          <p:nvPr/>
        </p:nvSpPr>
        <p:spPr>
          <a:xfrm>
            <a:off x="2286000" y="146304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(policy)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86000" y="2331720"/>
            <a:ext cx="17830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0F8B8D"/>
            </a:solidFill>
            <a:prstDash val="solid"/>
          </a:ln>
          <a:effectLst>
            <a:outerShdw blurRad="114300" dist="38100" dir="8100000" algn="bl" rotWithShape="0">
              <a:srgbClr val="9AA7AE">
                <a:alpha val="2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/>
          <p:nvPr/>
        </p:nvSpPr>
        <p:spPr>
          <a:xfrm>
            <a:off x="2286000" y="233172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critic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0" y="3200400"/>
            <a:ext cx="17830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blurRad="114300" dist="38100" dir="8100000" algn="bl" rotWithShape="0">
              <a:srgbClr val="9AA7AE">
                <a:alpha val="2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2286000" y="320040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critic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737360" y="1755648"/>
            <a:ext cx="548640" cy="0"/>
          </a:xfrm>
          <a:prstGeom prst="line">
            <a:avLst/>
          </a:prstGeom>
          <a:noFill/>
          <a:ln w="19050">
            <a:solidFill>
              <a:srgbClr val="6A7A8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1737360" y="2624328"/>
            <a:ext cx="548640" cy="0"/>
          </a:xfrm>
          <a:prstGeom prst="line">
            <a:avLst/>
          </a:prstGeom>
          <a:noFill/>
          <a:ln w="19050">
            <a:solidFill>
              <a:srgbClr val="6A7A8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4" name="Shape 12"/>
          <p:cNvSpPr/>
          <p:nvPr/>
        </p:nvSpPr>
        <p:spPr>
          <a:xfrm>
            <a:off x="1737360" y="3493008"/>
            <a:ext cx="548640" cy="0"/>
          </a:xfrm>
          <a:prstGeom prst="line">
            <a:avLst/>
          </a:prstGeom>
          <a:noFill/>
          <a:ln w="19050">
            <a:solidFill>
              <a:srgbClr val="6A7A8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3"/>
          <p:cNvSpPr/>
          <p:nvPr/>
        </p:nvSpPr>
        <p:spPr>
          <a:xfrm>
            <a:off x="4663440" y="15544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critic predicts </a:t>
            </a: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r>
              <a:rPr lang="en-US" sz="1400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alongside the usual reward critic.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24231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number, </a:t>
            </a:r>
            <a:r>
              <a:rPr lang="en-US" sz="14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</a:t>
            </a:r>
            <a:r>
              <a:rPr lang="en-US" sz="1400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 a volume knob for safety: it turns </a:t>
            </a:r>
            <a:r>
              <a:rPr lang="en-US" sz="1400" b="1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r>
              <a:rPr lang="en-US" sz="1400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over budget, </a:t>
            </a:r>
            <a:r>
              <a:rPr lang="en-US" sz="1400" b="1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</a:t>
            </a:r>
            <a:r>
              <a:rPr lang="en-US" sz="1400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safe.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663440" y="36118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sets λ by hand — it self-tunes every update.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· STAGE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 the base policy (safety off)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3931920" cy="2176272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−149.7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−145.8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A7A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B2B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Image 0" descr="img/fig4_stage1_selec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09160" y="1371600"/>
            <a:ext cx="3977640" cy="260604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50292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configs solve with identical reward — but very different cost.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SIGNAL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reward. Double the cost.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886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blurRad="114300" dist="38100" dir="8100000" algn="bl" rotWithShape="0">
              <a:srgbClr val="9AA7AE">
                <a:alpha val="2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P4 — speed demon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 it to the flag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</a:t>
            </a:r>
            <a:r>
              <a:rPr lang="en-US" sz="1400" b="1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47.5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</a:t>
            </a:r>
            <a:r>
              <a:rPr lang="en-US" sz="2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28.9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554480"/>
            <a:ext cx="38862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  <a:effectLst>
            <a:outerShdw blurRad="114300" dist="38100" dir="8100000" algn="bl" rotWithShape="0">
              <a:srgbClr val="9AA7AE">
                <a:alpha val="2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4983480" y="1783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P5 / P6 — cruisers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9834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the goal gently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8348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</a:t>
            </a:r>
            <a:r>
              <a:rPr lang="en-US" sz="1400" b="1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47.5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83480" y="3108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</a:t>
            </a:r>
            <a:r>
              <a:rPr lang="en-US" sz="2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39776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i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can't tell them apart. Cost can — and it's about to decide everything.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· STAGE 2  ·  THE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base decides whether safety is achievable</a:t>
            </a:r>
            <a:endParaRPr lang="en-US" sz="2700" dirty="0"/>
          </a:p>
        </p:txBody>
      </p:sp>
      <p:pic>
        <p:nvPicPr>
          <p:cNvPr id="4" name="Image 0" descr="img/fig5_stage2_scatt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97680" y="1325880"/>
            <a:ext cx="4389120" cy="2880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BEAE8"/>
          </a:solidFill>
          <a:ln w="1905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6" name="Text 3"/>
          <p:cNvSpPr/>
          <p:nvPr/>
        </p:nvSpPr>
        <p:spPr>
          <a:xfrm>
            <a:off x="685800" y="1627632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</a:t>
            </a: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P4-based</a:t>
            </a:r>
            <a:r>
              <a:rPr lang="en-US" sz="1450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 fails the budget — no matter how we tune λ.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02920" y="31089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 is set by the base's </a:t>
            </a:r>
            <a:r>
              <a:rPr lang="en-US" sz="16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</a:t>
            </a:r>
            <a:r>
              <a:rPr lang="en-US" sz="1600" b="1" dirty="0">
                <a:solidFill>
                  <a:srgbClr val="1B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not its reward.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39776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by reward alone would have chosen the one base that can never be made safe.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winner (S6): safe, essentially for free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4"/>
            </a:solidFill>
            <a:prstDash val="solid"/>
          </a:ln>
          <a:effectLst>
            <a:outerShdw blurRad="114300" dist="38100" dir="8100000" algn="bl" rotWithShape="0">
              <a:srgbClr val="9AA7AE">
                <a:alpha val="2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64008" cy="914400"/>
          </a:xfrm>
          <a:prstGeom prst="rect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/>
          <p:nvPr/>
        </p:nvSpPr>
        <p:spPr>
          <a:xfrm>
            <a:off x="667512" y="13990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47.3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67512" y="18562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— matches the baseline (47.8)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91840" y="132588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4"/>
            </a:solidFill>
            <a:prstDash val="solid"/>
          </a:ln>
          <a:effectLst>
            <a:outerShdw blurRad="114300" dist="38100" dir="8100000" algn="bl" rotWithShape="0">
              <a:srgbClr val="9AA7AE">
                <a:alpha val="2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3291840" y="1325880"/>
            <a:ext cx="64008" cy="914400"/>
          </a:xfrm>
          <a:prstGeom prst="rect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/>
          <p:nvPr/>
        </p:nvSpPr>
        <p:spPr>
          <a:xfrm>
            <a:off x="3456432" y="13990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8B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56432" y="18562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— exactly on the budget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80760" y="1325880"/>
            <a:ext cx="2606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4"/>
            </a:solidFill>
            <a:prstDash val="solid"/>
          </a:ln>
          <a:effectLst>
            <a:outerShdw blurRad="114300" dist="38100" dir="8100000" algn="bl" rotWithShape="0">
              <a:srgbClr val="9AA7AE">
                <a:alpha val="2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6080760" y="1325880"/>
            <a:ext cx="64008" cy="9144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6245352" y="13990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0.95 → 0.09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45352" y="1856232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peaks, then relaxes</a:t>
            </a:r>
            <a:endParaRPr lang="en-US" sz="1150" dirty="0"/>
          </a:p>
        </p:txBody>
      </p:sp>
      <p:pic>
        <p:nvPicPr>
          <p:cNvPr id="16" name="Image 0" descr="img/fig2_safe_du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2468880"/>
            <a:ext cx="4069080" cy="2240280"/>
          </a:xfrm>
          <a:prstGeom prst="rect">
            <a:avLst/>
          </a:prstGeom>
        </p:spPr>
      </p:pic>
      <p:pic>
        <p:nvPicPr>
          <p:cNvPr id="17" name="Image 1" descr="img/fig3_lambda_cos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2697480"/>
            <a:ext cx="3931920" cy="18562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FINAL REPORT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2B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hyperparameter study goes next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420624" cy="420624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548640" y="1444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141732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on 5 seeds</a:t>
            </a:r>
            <a:r>
              <a:rPr lang="en-US" sz="125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re-run finalists; a champion from 3 runs can be luck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420624" cy="420624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2075688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 the safety grid</a:t>
            </a:r>
            <a:r>
              <a:rPr lang="en-US" sz="125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open up the λ step sizes; check for a better point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761488"/>
            <a:ext cx="420624" cy="420624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548640" y="2761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43000" y="2734056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the budget → Pareto front</a:t>
            </a:r>
            <a:r>
              <a:rPr lang="en-US" sz="125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d ∈ {12,15,20,25}: a safety-vs-reward trade-off curve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3419856"/>
            <a:ext cx="420624" cy="420624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/>
          <p:nvPr/>
        </p:nvSpPr>
        <p:spPr>
          <a:xfrm>
            <a:off x="548640" y="34198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3392424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base × safety ablation</a:t>
            </a:r>
            <a:r>
              <a:rPr lang="en-US" sz="125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all 6 bases, not 3 — nails the base-cost claim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4078224"/>
            <a:ext cx="420624" cy="420624"/>
          </a:xfrm>
          <a:prstGeom prst="ellipse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7" name="Text 15"/>
          <p:cNvSpPr/>
          <p:nvPr/>
        </p:nvSpPr>
        <p:spPr>
          <a:xfrm>
            <a:off x="548640" y="40782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43000" y="4050792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the cost metric</a:t>
            </a:r>
            <a:r>
              <a:rPr lang="en-US" sz="1250" dirty="0">
                <a:solidFill>
                  <a:srgbClr val="6A7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use one definition for λ-update and reporting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43000" y="4754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slots straight into the existing two-stage runner.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2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to remember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38528"/>
            <a:ext cx="82296" cy="658368"/>
          </a:xfrm>
          <a:prstGeom prst="rect">
            <a:avLst/>
          </a:prstGeom>
          <a:solidFill>
            <a:srgbClr val="0F8B8D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/>
          <p:nvPr/>
        </p:nvSpPr>
        <p:spPr>
          <a:xfrm>
            <a:off x="777240" y="19202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8B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 it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834640" y="192024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7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MountainCar is simple enough to watch a constraint reshape learning.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807208"/>
            <a:ext cx="82296" cy="658368"/>
          </a:xfrm>
          <a:prstGeom prst="rect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/>
          <p:nvPr/>
        </p:nvSpPr>
        <p:spPr>
          <a:xfrm>
            <a:off x="777240" y="27889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834640" y="27889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7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is an automatic, interpretable safety dial.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82296" cy="658368"/>
          </a:xfrm>
          <a:prstGeom prst="rect">
            <a:avLst/>
          </a:prstGeom>
          <a:solidFill>
            <a:srgbClr val="E0A43A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1" name="Text 9"/>
          <p:cNvSpPr/>
          <p:nvPr/>
        </p:nvSpPr>
        <p:spPr>
          <a:xfrm>
            <a:off x="777240" y="3657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A4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Choose by cost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834640" y="365760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7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satisfy a constraint, pick your base policy by its cost — not just its reward.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D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paper, and training-process videos available in the project repository.   ·   Slides prepared with the assistance of AI.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1033</Words>
  <Application>Microsoft Office PowerPoint</Application>
  <PresentationFormat>On-screen Show (16:9)</PresentationFormat>
  <Paragraphs>136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 PPO on MountainCar</dc:title>
  <dc:subject>PptxGenJS Presentation</dc:subject>
  <dc:creator>Team — Hadis Amin, Muhammad Rafif, Edwar Budiman, Mukhit Onalbekov</dc:creator>
  <cp:lastModifiedBy>Hadis Amin</cp:lastModifiedBy>
  <cp:revision>2</cp:revision>
  <dcterms:created xsi:type="dcterms:W3CDTF">2026-06-06T05:23:38Z</dcterms:created>
  <dcterms:modified xsi:type="dcterms:W3CDTF">2026-06-06T07:40:54Z</dcterms:modified>
</cp:coreProperties>
</file>